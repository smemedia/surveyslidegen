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6" r:id="rId2"/>
    <p:sldId id="31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59D"/>
    <a:srgbClr val="5AB9E4"/>
    <a:srgbClr val="0A4A78"/>
    <a:srgbClr val="6FC2E7"/>
    <a:srgbClr val="00B0EE"/>
    <a:srgbClr val="5E8BB5"/>
    <a:srgbClr val="0A4A79"/>
    <a:srgbClr val="05BEFF"/>
    <a:srgbClr val="0C3352"/>
    <a:srgbClr val="F6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A2064-06E5-421E-AC68-A96FBA33B343}" v="16" dt="2026-07-29T14:20:14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a Trever" userId="88bb1294-43a6-4f90-bf7d-f2403b703deb" providerId="ADAL" clId="{7A3CFCD2-7FDC-4A59-BE15-69DCB67AC9EB}"/>
    <pc:docChg chg="undo custSel addSld delSld modSld sldOrd modMainMaster">
      <pc:chgData name="Natasha Trever" userId="88bb1294-43a6-4f90-bf7d-f2403b703deb" providerId="ADAL" clId="{7A3CFCD2-7FDC-4A59-BE15-69DCB67AC9EB}" dt="2026-07-29T14:20:38.286" v="6597" actId="255"/>
      <pc:docMkLst>
        <pc:docMk/>
      </pc:docMkLst>
      <pc:sldChg chg="modSp mod">
        <pc:chgData name="Natasha Trever" userId="88bb1294-43a6-4f90-bf7d-f2403b703deb" providerId="ADAL" clId="{7A3CFCD2-7FDC-4A59-BE15-69DCB67AC9EB}" dt="2026-07-29T14:20:38.286" v="6597" actId="255"/>
        <pc:sldMkLst>
          <pc:docMk/>
          <pc:sldMk cId="3346041466" sldId="315"/>
        </pc:sldMkLst>
        <pc:spChg chg="mod">
          <ac:chgData name="Natasha Trever" userId="88bb1294-43a6-4f90-bf7d-f2403b703deb" providerId="ADAL" clId="{7A3CFCD2-7FDC-4A59-BE15-69DCB67AC9EB}" dt="2026-07-29T14:20:38.286" v="6597" actId="255"/>
          <ac:spMkLst>
            <pc:docMk/>
            <pc:sldMk cId="3346041466" sldId="315"/>
            <ac:spMk id="6" creationId="{6DC76B32-8A87-68F6-4E37-BE62D1165CC7}"/>
          </ac:spMkLst>
        </pc:spChg>
        <pc:spChg chg="mod">
          <ac:chgData name="Natasha Trever" userId="88bb1294-43a6-4f90-bf7d-f2403b703deb" providerId="ADAL" clId="{7A3CFCD2-7FDC-4A59-BE15-69DCB67AC9EB}" dt="2026-07-29T14:05:11.797" v="6258" actId="20577"/>
          <ac:spMkLst>
            <pc:docMk/>
            <pc:sldMk cId="3346041466" sldId="315"/>
            <ac:spMk id="14" creationId="{0F1D0BE0-E8CD-3586-BF85-A30F71D5D20A}"/>
          </ac:spMkLst>
        </pc:spChg>
        <pc:spChg chg="mod">
          <ac:chgData name="Natasha Trever" userId="88bb1294-43a6-4f90-bf7d-f2403b703deb" providerId="ADAL" clId="{7A3CFCD2-7FDC-4A59-BE15-69DCB67AC9EB}" dt="2026-07-29T14:07:56.343" v="6332" actId="20577"/>
          <ac:spMkLst>
            <pc:docMk/>
            <pc:sldMk cId="3346041466" sldId="315"/>
            <ac:spMk id="15" creationId="{A511626E-A89E-04F8-1BAE-0D00C961408D}"/>
          </ac:spMkLst>
        </pc:spChg>
        <pc:spChg chg="mod">
          <ac:chgData name="Natasha Trever" userId="88bb1294-43a6-4f90-bf7d-f2403b703deb" providerId="ADAL" clId="{7A3CFCD2-7FDC-4A59-BE15-69DCB67AC9EB}" dt="2026-07-29T14:07:42.398" v="6328" actId="1035"/>
          <ac:spMkLst>
            <pc:docMk/>
            <pc:sldMk cId="3346041466" sldId="315"/>
            <ac:spMk id="17" creationId="{FE2115E6-59FB-37C7-3645-1FCBC75C5A17}"/>
          </ac:spMkLst>
        </pc:spChg>
        <pc:graphicFrameChg chg="mod">
          <ac:chgData name="Natasha Trever" userId="88bb1294-43a6-4f90-bf7d-f2403b703deb" providerId="ADAL" clId="{7A3CFCD2-7FDC-4A59-BE15-69DCB67AC9EB}" dt="2026-07-29T14:04:57.500" v="6234" actId="207"/>
          <ac:graphicFrameMkLst>
            <pc:docMk/>
            <pc:sldMk cId="3346041466" sldId="315"/>
            <ac:graphicFrameMk id="18" creationId="{0F2DE14E-B79A-E311-E59E-A9E8CDC902B7}"/>
          </ac:graphicFrameMkLst>
        </pc:graphicFrameChg>
        <pc:graphicFrameChg chg="mod ord">
          <ac:chgData name="Natasha Trever" userId="88bb1294-43a6-4f90-bf7d-f2403b703deb" providerId="ADAL" clId="{7A3CFCD2-7FDC-4A59-BE15-69DCB67AC9EB}" dt="2026-07-29T14:08:01.489" v="6333" actId="207"/>
          <ac:graphicFrameMkLst>
            <pc:docMk/>
            <pc:sldMk cId="3346041466" sldId="315"/>
            <ac:graphicFrameMk id="19" creationId="{484DB031-D14B-0AB4-4954-09E5C5F66D23}"/>
          </ac:graphicFrameMkLst>
        </pc:graphicFrameChg>
      </pc:sldChg>
      <pc:sldChg chg="addSp delSp modSp mod">
        <pc:chgData name="Natasha Trever" userId="88bb1294-43a6-4f90-bf7d-f2403b703deb" providerId="ADAL" clId="{7A3CFCD2-7FDC-4A59-BE15-69DCB67AC9EB}" dt="2026-07-29T14:20:14.407" v="6586" actId="164"/>
        <pc:sldMkLst>
          <pc:docMk/>
          <pc:sldMk cId="4270593823" sldId="316"/>
        </pc:sldMkLst>
        <pc:spChg chg="mod topLvl">
          <ac:chgData name="Natasha Trever" userId="88bb1294-43a6-4f90-bf7d-f2403b703deb" providerId="ADAL" clId="{7A3CFCD2-7FDC-4A59-BE15-69DCB67AC9EB}" dt="2026-07-29T14:19:39.835" v="6582" actId="164"/>
          <ac:spMkLst>
            <pc:docMk/>
            <pc:sldMk cId="4270593823" sldId="316"/>
            <ac:spMk id="4" creationId="{506101FA-5B2B-3219-DBC1-63FA8436DFDD}"/>
          </ac:spMkLst>
        </pc:spChg>
        <pc:spChg chg="mod">
          <ac:chgData name="Natasha Trever" userId="88bb1294-43a6-4f90-bf7d-f2403b703deb" providerId="ADAL" clId="{7A3CFCD2-7FDC-4A59-BE15-69DCB67AC9EB}" dt="2026-07-29T14:08:47.952" v="6374" actId="20577"/>
          <ac:spMkLst>
            <pc:docMk/>
            <pc:sldMk cId="4270593823" sldId="316"/>
            <ac:spMk id="5" creationId="{8CA6172B-2488-5027-A5EB-FD85D160DC08}"/>
          </ac:spMkLst>
        </pc:spChg>
        <pc:spChg chg="mod">
          <ac:chgData name="Natasha Trever" userId="88bb1294-43a6-4f90-bf7d-f2403b703deb" providerId="ADAL" clId="{7A3CFCD2-7FDC-4A59-BE15-69DCB67AC9EB}" dt="2026-07-29T14:08:13.955" v="6345" actId="20577"/>
          <ac:spMkLst>
            <pc:docMk/>
            <pc:sldMk cId="4270593823" sldId="316"/>
            <ac:spMk id="6" creationId="{DDAF6743-D4AF-DB38-5D1E-7918EAABFCDD}"/>
          </ac:spMkLst>
        </pc:spChg>
        <pc:spChg chg="mod topLvl">
          <ac:chgData name="Natasha Trever" userId="88bb1294-43a6-4f90-bf7d-f2403b703deb" providerId="ADAL" clId="{7A3CFCD2-7FDC-4A59-BE15-69DCB67AC9EB}" dt="2026-07-29T14:19:39.835" v="6582" actId="164"/>
          <ac:spMkLst>
            <pc:docMk/>
            <pc:sldMk cId="4270593823" sldId="316"/>
            <ac:spMk id="23" creationId="{C87FB316-3D6F-FB54-19A5-C5813DFA21C7}"/>
          </ac:spMkLst>
        </pc:spChg>
        <pc:spChg chg="mod topLvl">
          <ac:chgData name="Natasha Trever" userId="88bb1294-43a6-4f90-bf7d-f2403b703deb" providerId="ADAL" clId="{7A3CFCD2-7FDC-4A59-BE15-69DCB67AC9EB}" dt="2026-07-29T14:19:39.835" v="6582" actId="164"/>
          <ac:spMkLst>
            <pc:docMk/>
            <pc:sldMk cId="4270593823" sldId="316"/>
            <ac:spMk id="24" creationId="{3184A14E-345F-B075-E0E4-8592CF5C3892}"/>
          </ac:spMkLst>
        </pc:spChg>
        <pc:spChg chg="mod">
          <ac:chgData name="Natasha Trever" userId="88bb1294-43a6-4f90-bf7d-f2403b703deb" providerId="ADAL" clId="{7A3CFCD2-7FDC-4A59-BE15-69DCB67AC9EB}" dt="2026-07-29T14:19:47.313" v="6583" actId="164"/>
          <ac:spMkLst>
            <pc:docMk/>
            <pc:sldMk cId="4270593823" sldId="316"/>
            <ac:spMk id="27" creationId="{24376EF8-7A42-C8B9-F6B7-06C1003091CD}"/>
          </ac:spMkLst>
        </pc:spChg>
        <pc:spChg chg="mod topLvl">
          <ac:chgData name="Natasha Trever" userId="88bb1294-43a6-4f90-bf7d-f2403b703deb" providerId="ADAL" clId="{7A3CFCD2-7FDC-4A59-BE15-69DCB67AC9EB}" dt="2026-07-29T14:19:47.313" v="6583" actId="164"/>
          <ac:spMkLst>
            <pc:docMk/>
            <pc:sldMk cId="4270593823" sldId="316"/>
            <ac:spMk id="28" creationId="{1FDB3772-DC61-37D6-E97F-0328154E2BF9}"/>
          </ac:spMkLst>
        </pc:spChg>
        <pc:spChg chg="mod">
          <ac:chgData name="Natasha Trever" userId="88bb1294-43a6-4f90-bf7d-f2403b703deb" providerId="ADAL" clId="{7A3CFCD2-7FDC-4A59-BE15-69DCB67AC9EB}" dt="2026-07-29T14:19:47.313" v="6583" actId="164"/>
          <ac:spMkLst>
            <pc:docMk/>
            <pc:sldMk cId="4270593823" sldId="316"/>
            <ac:spMk id="29" creationId="{A1C8B18C-0187-3702-3543-98C86162C43E}"/>
          </ac:spMkLst>
        </pc:spChg>
        <pc:spChg chg="mod topLvl">
          <ac:chgData name="Natasha Trever" userId="88bb1294-43a6-4f90-bf7d-f2403b703deb" providerId="ADAL" clId="{7A3CFCD2-7FDC-4A59-BE15-69DCB67AC9EB}" dt="2026-07-29T14:19:52.775" v="6584" actId="164"/>
          <ac:spMkLst>
            <pc:docMk/>
            <pc:sldMk cId="4270593823" sldId="316"/>
            <ac:spMk id="31" creationId="{22C15709-E882-3EDB-BFC8-0FF5B860D20C}"/>
          </ac:spMkLst>
        </pc:spChg>
        <pc:spChg chg="mod topLvl">
          <ac:chgData name="Natasha Trever" userId="88bb1294-43a6-4f90-bf7d-f2403b703deb" providerId="ADAL" clId="{7A3CFCD2-7FDC-4A59-BE15-69DCB67AC9EB}" dt="2026-07-29T14:19:52.775" v="6584" actId="164"/>
          <ac:spMkLst>
            <pc:docMk/>
            <pc:sldMk cId="4270593823" sldId="316"/>
            <ac:spMk id="32" creationId="{A4C78F4E-3DC6-A3A4-0DF5-7DF8DD46B0E6}"/>
          </ac:spMkLst>
        </pc:spChg>
        <pc:spChg chg="mod topLvl">
          <ac:chgData name="Natasha Trever" userId="88bb1294-43a6-4f90-bf7d-f2403b703deb" providerId="ADAL" clId="{7A3CFCD2-7FDC-4A59-BE15-69DCB67AC9EB}" dt="2026-07-29T14:19:52.775" v="6584" actId="164"/>
          <ac:spMkLst>
            <pc:docMk/>
            <pc:sldMk cId="4270593823" sldId="316"/>
            <ac:spMk id="33" creationId="{4291EB8E-145F-4456-FA1D-9095DA179AEB}"/>
          </ac:spMkLst>
        </pc:spChg>
        <pc:spChg chg="mod topLvl">
          <ac:chgData name="Natasha Trever" userId="88bb1294-43a6-4f90-bf7d-f2403b703deb" providerId="ADAL" clId="{7A3CFCD2-7FDC-4A59-BE15-69DCB67AC9EB}" dt="2026-07-29T14:20:14.407" v="6586" actId="164"/>
          <ac:spMkLst>
            <pc:docMk/>
            <pc:sldMk cId="4270593823" sldId="316"/>
            <ac:spMk id="35" creationId="{EA36A4B3-1E7E-2B8A-4306-B7B054E79DD4}"/>
          </ac:spMkLst>
        </pc:spChg>
        <pc:spChg chg="mod topLvl">
          <ac:chgData name="Natasha Trever" userId="88bb1294-43a6-4f90-bf7d-f2403b703deb" providerId="ADAL" clId="{7A3CFCD2-7FDC-4A59-BE15-69DCB67AC9EB}" dt="2026-07-29T14:20:14.407" v="6586" actId="164"/>
          <ac:spMkLst>
            <pc:docMk/>
            <pc:sldMk cId="4270593823" sldId="316"/>
            <ac:spMk id="36" creationId="{D2226BDC-0552-5EA7-98BC-3968EF07FC43}"/>
          </ac:spMkLst>
        </pc:spChg>
        <pc:spChg chg="mod topLvl">
          <ac:chgData name="Natasha Trever" userId="88bb1294-43a6-4f90-bf7d-f2403b703deb" providerId="ADAL" clId="{7A3CFCD2-7FDC-4A59-BE15-69DCB67AC9EB}" dt="2026-07-29T14:20:14.407" v="6586" actId="164"/>
          <ac:spMkLst>
            <pc:docMk/>
            <pc:sldMk cId="4270593823" sldId="316"/>
            <ac:spMk id="37" creationId="{0066B991-71A9-D395-CDF1-ABEAA212C76F}"/>
          </ac:spMkLst>
        </pc:spChg>
        <pc:grpChg chg="add mod">
          <ac:chgData name="Natasha Trever" userId="88bb1294-43a6-4f90-bf7d-f2403b703deb" providerId="ADAL" clId="{7A3CFCD2-7FDC-4A59-BE15-69DCB67AC9EB}" dt="2026-07-29T14:19:39.835" v="6582" actId="164"/>
          <ac:grpSpMkLst>
            <pc:docMk/>
            <pc:sldMk cId="4270593823" sldId="316"/>
            <ac:grpSpMk id="2" creationId="{F8359E68-9272-4527-7979-5BE4B1578F0C}"/>
          </ac:grpSpMkLst>
        </pc:grpChg>
        <pc:grpChg chg="add mod">
          <ac:chgData name="Natasha Trever" userId="88bb1294-43a6-4f90-bf7d-f2403b703deb" providerId="ADAL" clId="{7A3CFCD2-7FDC-4A59-BE15-69DCB67AC9EB}" dt="2026-07-29T14:19:47.313" v="6583" actId="164"/>
          <ac:grpSpMkLst>
            <pc:docMk/>
            <pc:sldMk cId="4270593823" sldId="316"/>
            <ac:grpSpMk id="3" creationId="{EB811876-D51A-C834-A87C-3274B871BFE5}"/>
          </ac:grpSpMkLst>
        </pc:grpChg>
        <pc:grpChg chg="add mod">
          <ac:chgData name="Natasha Trever" userId="88bb1294-43a6-4f90-bf7d-f2403b703deb" providerId="ADAL" clId="{7A3CFCD2-7FDC-4A59-BE15-69DCB67AC9EB}" dt="2026-07-29T14:19:52.775" v="6584" actId="164"/>
          <ac:grpSpMkLst>
            <pc:docMk/>
            <pc:sldMk cId="4270593823" sldId="316"/>
            <ac:grpSpMk id="7" creationId="{DDACDC69-D575-8237-868E-A7943B4F33CE}"/>
          </ac:grpSpMkLst>
        </pc:grpChg>
        <pc:grpChg chg="add mod">
          <ac:chgData name="Natasha Trever" userId="88bb1294-43a6-4f90-bf7d-f2403b703deb" providerId="ADAL" clId="{7A3CFCD2-7FDC-4A59-BE15-69DCB67AC9EB}" dt="2026-07-29T14:20:14.407" v="6586" actId="164"/>
          <ac:grpSpMkLst>
            <pc:docMk/>
            <pc:sldMk cId="4270593823" sldId="316"/>
            <ac:grpSpMk id="8" creationId="{C2296F87-F036-CEA0-CC0C-02E2F6924930}"/>
          </ac:grpSpMkLst>
        </pc:grpChg>
        <pc:grpChg chg="mod">
          <ac:chgData name="Natasha Trever" userId="88bb1294-43a6-4f90-bf7d-f2403b703deb" providerId="ADAL" clId="{7A3CFCD2-7FDC-4A59-BE15-69DCB67AC9EB}" dt="2026-07-29T14:18:59.552" v="6574"/>
          <ac:grpSpMkLst>
            <pc:docMk/>
            <pc:sldMk cId="4270593823" sldId="316"/>
            <ac:grpSpMk id="30" creationId="{C423510A-F7FA-49AF-A50F-F20E0D2C6221}"/>
          </ac:grpSpMkLst>
        </pc:grpChg>
      </pc:sldChg>
      <pc:sldChg chg="new del">
        <pc:chgData name="Natasha Trever" userId="88bb1294-43a6-4f90-bf7d-f2403b703deb" providerId="ADAL" clId="{7A3CFCD2-7FDC-4A59-BE15-69DCB67AC9EB}" dt="2026-07-29T13:59:37.191" v="6232" actId="47"/>
        <pc:sldMkLst>
          <pc:docMk/>
          <pc:sldMk cId="2285529698" sldId="31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165602798196387E-2"/>
          <c:y val="5.8513143485514257E-2"/>
          <c:w val="1"/>
          <c:h val="0.7684512070523165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</c:v>
                </c:pt>
              </c:strCache>
            </c:strRef>
          </c:tx>
          <c:spPr>
            <a:solidFill>
              <a:srgbClr val="5E8BB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5E8BB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A7-40D7-A532-E230B83DD078}"/>
              </c:ext>
            </c:extLst>
          </c:dPt>
          <c:dPt>
            <c:idx val="1"/>
            <c:invertIfNegative val="0"/>
            <c:bubble3D val="0"/>
            <c:spPr>
              <a:solidFill>
                <a:srgbClr val="5E8BB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3A7-40D7-A532-E230B83DD078}"/>
              </c:ext>
            </c:extLst>
          </c:dPt>
          <c:dPt>
            <c:idx val="2"/>
            <c:invertIfNegative val="0"/>
            <c:bubble3D val="0"/>
            <c:spPr>
              <a:solidFill>
                <a:srgbClr val="5E8BB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3A7-40D7-A532-E230B83DD078}"/>
              </c:ext>
            </c:extLst>
          </c:dPt>
          <c:dPt>
            <c:idx val="3"/>
            <c:invertIfNegative val="0"/>
            <c:bubble3D val="0"/>
            <c:spPr>
              <a:solidFill>
                <a:srgbClr val="49759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A7-40D7-A532-E230B83DD078}"/>
              </c:ext>
            </c:extLst>
          </c:dPt>
          <c:dPt>
            <c:idx val="4"/>
            <c:invertIfNegative val="0"/>
            <c:bubble3D val="0"/>
            <c:spPr>
              <a:solidFill>
                <a:srgbClr val="5AB9E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3A7-40D7-A532-E230B83DD078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Podcast/Video Audience</c:v>
                </c:pt>
                <c:pt idx="1">
                  <c:v>Mfg. Weekly Newsletter Subscribers</c:v>
                </c:pt>
                <c:pt idx="2">
                  <c:v>SME Event Attendees</c:v>
                </c:pt>
                <c:pt idx="3">
                  <c:v>MET Magazine Readers</c:v>
                </c:pt>
                <c:pt idx="4">
                  <c:v>AM.org  Users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</c:v>
                </c:pt>
                <c:pt idx="1">
                  <c:v>0.53</c:v>
                </c:pt>
                <c:pt idx="2">
                  <c:v>0.55000000000000004</c:v>
                </c:pt>
                <c:pt idx="3">
                  <c:v>0.56999999999999995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A7-40D7-A532-E230B83DD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8"/>
        <c:axId val="340382079"/>
        <c:axId val="340378143"/>
      </c:barChart>
      <c:catAx>
        <c:axId val="340382079"/>
        <c:scaling>
          <c:orientation val="maxMin"/>
        </c:scaling>
        <c:delete val="0"/>
        <c:axPos val="b"/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378143"/>
        <c:crosses val="autoZero"/>
        <c:auto val="1"/>
        <c:lblAlgn val="ctr"/>
        <c:lblOffset val="100"/>
        <c:noMultiLvlLbl val="0"/>
      </c:catAx>
      <c:valAx>
        <c:axId val="340378143"/>
        <c:scaling>
          <c:orientation val="minMax"/>
        </c:scaling>
        <c:delete val="1"/>
        <c:axPos val="r"/>
        <c:numFmt formatCode="0%" sourceLinked="0"/>
        <c:majorTickMark val="none"/>
        <c:minorTickMark val="none"/>
        <c:tickLblPos val="none"/>
        <c:crossAx val="340382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846985449406894"/>
          <c:y val="4.7752366202669976E-2"/>
          <c:w val="0.63540081957422356"/>
          <c:h val="0.8876443167349296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</c:v>
                </c:pt>
              </c:strCache>
            </c:strRef>
          </c:tx>
          <c:spPr>
            <a:solidFill>
              <a:srgbClr val="0A4A7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E0-497D-98BD-EB953C56E642}"/>
              </c:ext>
            </c:extLst>
          </c:dPt>
          <c:dPt>
            <c:idx val="1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E0-497D-98BD-EB953C56E642}"/>
              </c:ext>
            </c:extLst>
          </c:dPt>
          <c:dPt>
            <c:idx val="2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E0-497D-98BD-EB953C56E642}"/>
              </c:ext>
            </c:extLst>
          </c:dPt>
          <c:dPt>
            <c:idx val="3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4E0-497D-98BD-EB953C56E642}"/>
              </c:ext>
            </c:extLst>
          </c:dPt>
          <c:dPt>
            <c:idx val="4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4E0-497D-98BD-EB953C56E642}"/>
              </c:ext>
            </c:extLst>
          </c:dPt>
          <c:dPt>
            <c:idx val="5"/>
            <c:invertIfNegative val="0"/>
            <c:bubble3D val="0"/>
            <c:spPr>
              <a:solidFill>
                <a:srgbClr val="0A4A7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4E0-497D-98BD-EB953C56E642}"/>
              </c:ext>
            </c:extLst>
          </c:dPt>
          <c:dPt>
            <c:idx val="6"/>
            <c:invertIfNegative val="0"/>
            <c:bubble3D val="0"/>
            <c:spPr>
              <a:solidFill>
                <a:srgbClr val="5AB9E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4E0-497D-98BD-EB953C56E64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Other </c:v>
                </c:pt>
                <c:pt idx="1">
                  <c:v>Consulting</c:v>
                </c:pt>
                <c:pt idx="2">
                  <c:v>Additive Equipment</c:v>
                </c:pt>
                <c:pt idx="3">
                  <c:v>Training </c:v>
                </c:pt>
                <c:pt idx="4">
                  <c:v>Robotics / Automation</c:v>
                </c:pt>
                <c:pt idx="5">
                  <c:v>Software</c:v>
                </c:pt>
                <c:pt idx="6">
                  <c:v>Machine Tools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0.151</c:v>
                </c:pt>
                <c:pt idx="1">
                  <c:v>0.29599999999999999</c:v>
                </c:pt>
                <c:pt idx="2">
                  <c:v>0.38700000000000001</c:v>
                </c:pt>
                <c:pt idx="3">
                  <c:v>0.42699999999999999</c:v>
                </c:pt>
                <c:pt idx="4">
                  <c:v>0.47699999999999998</c:v>
                </c:pt>
                <c:pt idx="5">
                  <c:v>0.51800000000000002</c:v>
                </c:pt>
                <c:pt idx="6">
                  <c:v>0.53300000000000003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4E0-497D-98BD-EB953C56E6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340382079"/>
        <c:axId val="340378143"/>
      </c:barChart>
      <c:catAx>
        <c:axId val="340382079"/>
        <c:scaling>
          <c:orientation val="minMax"/>
        </c:scaling>
        <c:delete val="0"/>
        <c:axPos val="l"/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378143"/>
        <c:crosses val="autoZero"/>
        <c:auto val="1"/>
        <c:lblAlgn val="ctr"/>
        <c:lblOffset val="100"/>
        <c:noMultiLvlLbl val="0"/>
      </c:catAx>
      <c:valAx>
        <c:axId val="340378143"/>
        <c:scaling>
          <c:orientation val="minMax"/>
        </c:scaling>
        <c:delete val="1"/>
        <c:axPos val="b"/>
        <c:numFmt formatCode="0%" sourceLinked="0"/>
        <c:majorTickMark val="none"/>
        <c:minorTickMark val="none"/>
        <c:tickLblPos val="none"/>
        <c:crossAx val="340382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C4FD-9468-467E-8BB9-90CBE06ABF18}" type="datetimeFigureOut"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FE6F0-2784-4F57-BA85-8871A73197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8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79ACB-0D45-2145-497F-CCCB3CB00B27}"/>
              </a:ext>
            </a:extLst>
          </p:cNvPr>
          <p:cNvSpPr/>
          <p:nvPr userDrawn="1"/>
        </p:nvSpPr>
        <p:spPr>
          <a:xfrm flipH="1">
            <a:off x="-5" y="304529"/>
            <a:ext cx="9675303" cy="119138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62568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9BF4DB-E4F9-9ABC-4635-BE463CFF1425}"/>
              </a:ext>
            </a:extLst>
          </p:cNvPr>
          <p:cNvSpPr/>
          <p:nvPr userDrawn="1"/>
        </p:nvSpPr>
        <p:spPr>
          <a:xfrm flipH="1">
            <a:off x="-3" y="277097"/>
            <a:ext cx="7315200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6B63F-9FE3-670A-C3EC-5071D771A5CF}"/>
              </a:ext>
            </a:extLst>
          </p:cNvPr>
          <p:cNvSpPr/>
          <p:nvPr userDrawn="1"/>
        </p:nvSpPr>
        <p:spPr>
          <a:xfrm flipH="1">
            <a:off x="-3" y="1495913"/>
            <a:ext cx="9793224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00D072-3A70-BFC8-A235-1274038F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74320"/>
            <a:ext cx="10515600" cy="918391"/>
          </a:xfrm>
        </p:spPr>
        <p:txBody>
          <a:bodyPr>
            <a:noAutofit/>
          </a:bodyPr>
          <a:lstStyle>
            <a:lvl1pPr>
              <a:defRPr>
                <a:solidFill>
                  <a:srgbClr val="0C335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1375D7-7EC4-31F8-99A3-84747CF28C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1600"/>
            <a:ext cx="121920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4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1CDFA2-31AD-F964-1BFE-BAE2BAF721B7}"/>
              </a:ext>
            </a:extLst>
          </p:cNvPr>
          <p:cNvSpPr/>
          <p:nvPr userDrawn="1"/>
        </p:nvSpPr>
        <p:spPr>
          <a:xfrm flipH="1">
            <a:off x="-6" y="304530"/>
            <a:ext cx="9675303" cy="126839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62568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D06C0-586A-2732-B612-E5240538C872}"/>
              </a:ext>
            </a:extLst>
          </p:cNvPr>
          <p:cNvSpPr/>
          <p:nvPr userDrawn="1"/>
        </p:nvSpPr>
        <p:spPr>
          <a:xfrm flipH="1">
            <a:off x="-3" y="277097"/>
            <a:ext cx="7315200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A8A974-540F-8823-6448-CF6A72109D46}"/>
              </a:ext>
            </a:extLst>
          </p:cNvPr>
          <p:cNvSpPr/>
          <p:nvPr userDrawn="1"/>
        </p:nvSpPr>
        <p:spPr>
          <a:xfrm flipH="1">
            <a:off x="-3" y="1545492"/>
            <a:ext cx="9793224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F50343F3-AA0D-5B86-3C7F-191D53F8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72847"/>
            <a:ext cx="10515600" cy="918390"/>
          </a:xfrm>
        </p:spPr>
        <p:txBody>
          <a:bodyPr>
            <a:noAutofit/>
          </a:bodyPr>
          <a:lstStyle>
            <a:lvl1pPr>
              <a:defRPr>
                <a:solidFill>
                  <a:srgbClr val="0C335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7E600-5B97-3A05-3DCA-3269D7A9DC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1600"/>
            <a:ext cx="121920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6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E587D2-60BE-D503-FF3C-FF4BC55D978F}"/>
              </a:ext>
            </a:extLst>
          </p:cNvPr>
          <p:cNvSpPr/>
          <p:nvPr userDrawn="1"/>
        </p:nvSpPr>
        <p:spPr>
          <a:xfrm flipH="1">
            <a:off x="-5" y="304530"/>
            <a:ext cx="9675303" cy="1274648"/>
          </a:xfrm>
          <a:prstGeom prst="rect">
            <a:avLst/>
          </a:prstGeom>
          <a:gradFill flip="none" rotWithShape="1">
            <a:gsLst>
              <a:gs pos="0">
                <a:srgbClr val="0C3352">
                  <a:alpha val="0"/>
                </a:srgbClr>
              </a:gs>
              <a:gs pos="100000">
                <a:srgbClr val="000000">
                  <a:alpha val="47919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E0008-4090-820E-AD79-516467FE9297}"/>
              </a:ext>
            </a:extLst>
          </p:cNvPr>
          <p:cNvSpPr/>
          <p:nvPr userDrawn="1"/>
        </p:nvSpPr>
        <p:spPr>
          <a:xfrm flipH="1">
            <a:off x="-3" y="277097"/>
            <a:ext cx="7315200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477E2-9D7B-8ABD-A8AA-4C2105C1C128}"/>
              </a:ext>
            </a:extLst>
          </p:cNvPr>
          <p:cNvSpPr/>
          <p:nvPr userDrawn="1"/>
        </p:nvSpPr>
        <p:spPr>
          <a:xfrm flipH="1">
            <a:off x="-3" y="1551746"/>
            <a:ext cx="9793224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1BA1D31-1B5B-C14A-C572-E3A1FCD9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74320"/>
            <a:ext cx="10515600" cy="918391"/>
          </a:xfrm>
        </p:spPr>
        <p:txBody>
          <a:bodyPr>
            <a:noAutofit/>
          </a:bodyPr>
          <a:lstStyle>
            <a:lvl1pPr>
              <a:defRPr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208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B1734-D190-B9D4-2230-3EC2F978C348}"/>
              </a:ext>
            </a:extLst>
          </p:cNvPr>
          <p:cNvSpPr/>
          <p:nvPr userDrawn="1"/>
        </p:nvSpPr>
        <p:spPr>
          <a:xfrm flipH="1">
            <a:off x="-4" y="304530"/>
            <a:ext cx="9675303" cy="803078"/>
          </a:xfrm>
          <a:prstGeom prst="rect">
            <a:avLst/>
          </a:prstGeom>
          <a:gradFill flip="none" rotWithShape="1">
            <a:gsLst>
              <a:gs pos="0">
                <a:srgbClr val="0C3352">
                  <a:alpha val="0"/>
                </a:srgbClr>
              </a:gs>
              <a:gs pos="100000">
                <a:srgbClr val="000000">
                  <a:alpha val="47919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0951B-3D21-980D-EE37-A090DDC1BC72}"/>
              </a:ext>
            </a:extLst>
          </p:cNvPr>
          <p:cNvSpPr/>
          <p:nvPr userDrawn="1"/>
        </p:nvSpPr>
        <p:spPr>
          <a:xfrm flipH="1">
            <a:off x="-3" y="277097"/>
            <a:ext cx="7315200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7CA4F-7C05-23B9-07EF-33DB66E975F0}"/>
              </a:ext>
            </a:extLst>
          </p:cNvPr>
          <p:cNvSpPr/>
          <p:nvPr userDrawn="1"/>
        </p:nvSpPr>
        <p:spPr>
          <a:xfrm flipH="1">
            <a:off x="-3" y="1107607"/>
            <a:ext cx="9793224" cy="27432"/>
          </a:xfrm>
          <a:prstGeom prst="rect">
            <a:avLst/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9000">
                <a:srgbClr val="5E8BB5">
                  <a:alpha val="6526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B107BCA-FAB1-941E-752D-4BAF49BB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74320"/>
            <a:ext cx="10515600" cy="918391"/>
          </a:xfrm>
        </p:spPr>
        <p:txBody>
          <a:bodyPr>
            <a:noAutofit/>
          </a:bodyPr>
          <a:lstStyle>
            <a:lvl1pPr>
              <a:defRPr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540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7F2437-4D6C-E820-86FE-394B4E91D2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1600"/>
            <a:ext cx="121920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3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96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62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4A913-DE28-D888-A604-D4E2BF0F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51280-07D4-E950-E749-3526585E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93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3" r:id="rId2"/>
    <p:sldLayoutId id="2147483681" r:id="rId3"/>
    <p:sldLayoutId id="2147483676" r:id="rId4"/>
    <p:sldLayoutId id="2147483677" r:id="rId5"/>
    <p:sldLayoutId id="2147483664" r:id="rId6"/>
    <p:sldLayoutId id="214748366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0C335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DF12-BC34-BC39-5EDF-9F73BB37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6172B-2488-5027-A5EB-FD85D160DC08}"/>
              </a:ext>
            </a:extLst>
          </p:cNvPr>
          <p:cNvSpPr txBox="1"/>
          <p:nvPr/>
        </p:nvSpPr>
        <p:spPr>
          <a:xfrm>
            <a:off x="369512" y="6554984"/>
            <a:ext cx="115381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Source: Sibyl by Signet Research 2026 SME Media Audience Cross-Platform Research Report; Kennametal  target audience count based on internal records matching the selected  job levels,  category, functions, and  manufacturing industries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DAF6743-D4AF-DB38-5D1E-7918EAAB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2528"/>
            <a:ext cx="12191999" cy="917575"/>
          </a:xfrm>
        </p:spPr>
        <p:txBody>
          <a:bodyPr/>
          <a:lstStyle/>
          <a:p>
            <a:pPr algn="ctr"/>
            <a:r>
              <a:rPr lang="en-US" sz="4500" dirty="0">
                <a:latin typeface="+mj-lt"/>
              </a:rPr>
              <a:t>SME Media Connects Kennametal with </a:t>
            </a:r>
            <a:br>
              <a:rPr lang="en-US" sz="4500" dirty="0">
                <a:latin typeface="+mj-lt"/>
              </a:rPr>
            </a:br>
            <a:r>
              <a:rPr lang="en-US" sz="4500" dirty="0">
                <a:latin typeface="+mj-lt"/>
              </a:rPr>
              <a:t>Qualified Manufacturing Decision-Makers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359E68-9272-4527-7979-5BE4B1578F0C}"/>
              </a:ext>
            </a:extLst>
          </p:cNvPr>
          <p:cNvGrpSpPr/>
          <p:nvPr/>
        </p:nvGrpSpPr>
        <p:grpSpPr>
          <a:xfrm>
            <a:off x="505967" y="2241776"/>
            <a:ext cx="2558444" cy="3783243"/>
            <a:chOff x="505967" y="2241776"/>
            <a:chExt cx="2558444" cy="37832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6101FA-5B2B-3219-DBC1-63FA8436DFDD}"/>
                </a:ext>
              </a:extLst>
            </p:cNvPr>
            <p:cNvSpPr/>
            <p:nvPr/>
          </p:nvSpPr>
          <p:spPr>
            <a:xfrm>
              <a:off x="505967" y="2976211"/>
              <a:ext cx="2558444" cy="3048808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28575">
              <a:solidFill>
                <a:srgbClr val="0A4A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7FB316-3D6F-FB54-19A5-C5813DFA21C7}"/>
                </a:ext>
              </a:extLst>
            </p:cNvPr>
            <p:cNvSpPr txBox="1"/>
            <p:nvPr/>
          </p:nvSpPr>
          <p:spPr>
            <a:xfrm>
              <a:off x="591416" y="3258512"/>
              <a:ext cx="2387545" cy="2216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200" b="1" dirty="0">
                  <a:solidFill>
                    <a:srgbClr val="0A4A79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35K+</a:t>
              </a:r>
            </a:p>
            <a:p>
              <a:pPr algn="ctr">
                <a:lnSpc>
                  <a:spcPts val="2300"/>
                </a:lnSpc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SME Media Audience Member Records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Match Kennametal Audience Target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184A14E-345F-B075-E0E4-8592CF5C3892}"/>
                </a:ext>
              </a:extLst>
            </p:cNvPr>
            <p:cNvSpPr/>
            <p:nvPr/>
          </p:nvSpPr>
          <p:spPr>
            <a:xfrm>
              <a:off x="505967" y="2241776"/>
              <a:ext cx="2558444" cy="513950"/>
            </a:xfrm>
            <a:prstGeom prst="rect">
              <a:avLst/>
            </a:prstGeom>
            <a:solidFill>
              <a:srgbClr val="0A4A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REACH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811876-D51A-C834-A87C-3274B871BFE5}"/>
              </a:ext>
            </a:extLst>
          </p:cNvPr>
          <p:cNvGrpSpPr/>
          <p:nvPr/>
        </p:nvGrpSpPr>
        <p:grpSpPr>
          <a:xfrm>
            <a:off x="3441193" y="2241776"/>
            <a:ext cx="2583496" cy="3794676"/>
            <a:chOff x="3441193" y="2241776"/>
            <a:chExt cx="2583496" cy="37946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376EF8-7A42-C8B9-F6B7-06C1003091CD}"/>
                </a:ext>
              </a:extLst>
            </p:cNvPr>
            <p:cNvSpPr/>
            <p:nvPr/>
          </p:nvSpPr>
          <p:spPr>
            <a:xfrm>
              <a:off x="3453720" y="2976211"/>
              <a:ext cx="2558444" cy="3048808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28575">
              <a:solidFill>
                <a:srgbClr val="5E8B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DB3772-DC61-37D6-E97F-0328154E2BF9}"/>
                </a:ext>
              </a:extLst>
            </p:cNvPr>
            <p:cNvSpPr txBox="1"/>
            <p:nvPr/>
          </p:nvSpPr>
          <p:spPr>
            <a:xfrm>
              <a:off x="3441193" y="3258512"/>
              <a:ext cx="2583496" cy="277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200" b="1" dirty="0">
                  <a:solidFill>
                    <a:srgbClr val="49759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2 in 5</a:t>
              </a:r>
            </a:p>
            <a:p>
              <a:pPr algn="ctr">
                <a:lnSpc>
                  <a:spcPts val="2300"/>
                </a:lnSpc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Hold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Manufacturing Engineering, Production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or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C-Suite Leadership Role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 at their Organization </a:t>
              </a:r>
              <a:br>
                <a:rPr lang="en-US" sz="1900" dirty="0">
                  <a:solidFill>
                    <a:srgbClr val="0C3352"/>
                  </a:solidFill>
                </a:rPr>
              </a:br>
              <a:r>
                <a:rPr lang="en-US" sz="1000" dirty="0">
                  <a:solidFill>
                    <a:srgbClr val="0C3352"/>
                  </a:solidFill>
                </a:rPr>
                <a:t>(43% Total Audience Composition)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1C8B18C-0187-3702-3543-98C86162C43E}"/>
                </a:ext>
              </a:extLst>
            </p:cNvPr>
            <p:cNvSpPr/>
            <p:nvPr/>
          </p:nvSpPr>
          <p:spPr>
            <a:xfrm>
              <a:off x="3453720" y="2241776"/>
              <a:ext cx="2558444" cy="513950"/>
            </a:xfrm>
            <a:prstGeom prst="rect">
              <a:avLst/>
            </a:prstGeom>
            <a:solidFill>
              <a:srgbClr val="5E8B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QUALIFIED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ACDC69-D575-8237-868E-A7943B4F33CE}"/>
              </a:ext>
            </a:extLst>
          </p:cNvPr>
          <p:cNvGrpSpPr/>
          <p:nvPr/>
        </p:nvGrpSpPr>
        <p:grpSpPr>
          <a:xfrm>
            <a:off x="6288066" y="2241776"/>
            <a:ext cx="2768252" cy="3783243"/>
            <a:chOff x="6288066" y="2241776"/>
            <a:chExt cx="2768252" cy="378324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C15709-E882-3EDB-BFC8-0FF5B860D20C}"/>
                </a:ext>
              </a:extLst>
            </p:cNvPr>
            <p:cNvSpPr/>
            <p:nvPr/>
          </p:nvSpPr>
          <p:spPr>
            <a:xfrm>
              <a:off x="6401473" y="2976211"/>
              <a:ext cx="2558444" cy="3048808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28575">
              <a:solidFill>
                <a:srgbClr val="05BE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C78F4E-3DC6-A3A4-0DF5-7DF8DD46B0E6}"/>
                </a:ext>
              </a:extLst>
            </p:cNvPr>
            <p:cNvSpPr txBox="1"/>
            <p:nvPr/>
          </p:nvSpPr>
          <p:spPr>
            <a:xfrm>
              <a:off x="6288066" y="3258512"/>
              <a:ext cx="2768252" cy="25113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200" b="1" dirty="0">
                  <a:solidFill>
                    <a:srgbClr val="00B0E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75%</a:t>
              </a:r>
            </a:p>
            <a:p>
              <a:pPr algn="ctr">
                <a:lnSpc>
                  <a:spcPts val="2300"/>
                </a:lnSpc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Work across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Aerospace </a:t>
              </a:r>
              <a:b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 Defense, Automotive, Industrial Machinery </a:t>
              </a:r>
              <a:b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 Equipment, Medical Device,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Job Shops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291EB8E-145F-4456-FA1D-9095DA179AEB}"/>
                </a:ext>
              </a:extLst>
            </p:cNvPr>
            <p:cNvSpPr/>
            <p:nvPr/>
          </p:nvSpPr>
          <p:spPr>
            <a:xfrm>
              <a:off x="6401473" y="2241776"/>
              <a:ext cx="2558444" cy="513950"/>
            </a:xfrm>
            <a:prstGeom prst="rect">
              <a:avLst/>
            </a:prstGeom>
            <a:solidFill>
              <a:srgbClr val="05B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INDUSTRY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296F87-F036-CEA0-CC0C-02E2F6924930}"/>
              </a:ext>
            </a:extLst>
          </p:cNvPr>
          <p:cNvGrpSpPr/>
          <p:nvPr/>
        </p:nvGrpSpPr>
        <p:grpSpPr>
          <a:xfrm>
            <a:off x="9349225" y="2241776"/>
            <a:ext cx="2558444" cy="3783243"/>
            <a:chOff x="9349225" y="2241776"/>
            <a:chExt cx="2558444" cy="378324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A36A4B3-1E7E-2B8A-4306-B7B054E79DD4}"/>
                </a:ext>
              </a:extLst>
            </p:cNvPr>
            <p:cNvSpPr/>
            <p:nvPr/>
          </p:nvSpPr>
          <p:spPr>
            <a:xfrm>
              <a:off x="9349225" y="2976211"/>
              <a:ext cx="2558444" cy="3048808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226BDC-0552-5EA7-98BC-3968EF07FC43}"/>
                </a:ext>
              </a:extLst>
            </p:cNvPr>
            <p:cNvSpPr txBox="1"/>
            <p:nvPr/>
          </p:nvSpPr>
          <p:spPr>
            <a:xfrm>
              <a:off x="9399330" y="3258512"/>
              <a:ext cx="2472994" cy="24829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200" b="1" dirty="0">
                  <a:solidFill>
                    <a:srgbClr val="6FC2E7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8 in 10</a:t>
              </a:r>
            </a:p>
            <a:p>
              <a:pPr algn="ctr">
                <a:lnSpc>
                  <a:spcPts val="2300"/>
                </a:lnSpc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Have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Company Purchase Influence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or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Decision-Making Authority</a:t>
              </a:r>
              <a:br>
                <a:rPr lang="en-US" sz="1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(82%  Total Audience Composition</a:t>
              </a:r>
              <a:r>
                <a:rPr lang="en-US" sz="1000" dirty="0">
                  <a:solidFill>
                    <a:srgbClr val="0C3352"/>
                  </a:solidFill>
                </a:rPr>
                <a:t>)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66B991-71A9-D395-CDF1-ABEAA212C76F}"/>
                </a:ext>
              </a:extLst>
            </p:cNvPr>
            <p:cNvSpPr/>
            <p:nvPr/>
          </p:nvSpPr>
          <p:spPr>
            <a:xfrm>
              <a:off x="9349225" y="2241776"/>
              <a:ext cx="2558444" cy="513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DECISION-MAKERS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059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FF8C-CD2A-E5EB-A3C2-601DC249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84DB031-D14B-0AB4-4954-09E5C5F66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987506"/>
              </p:ext>
            </p:extLst>
          </p:nvPr>
        </p:nvGraphicFramePr>
        <p:xfrm>
          <a:off x="5486066" y="2851604"/>
          <a:ext cx="5960973" cy="329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6DC76B32-8A87-68F6-4E37-BE62D116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002"/>
            <a:ext cx="12191999" cy="917575"/>
          </a:xfrm>
        </p:spPr>
        <p:txBody>
          <a:bodyPr/>
          <a:lstStyle/>
          <a:p>
            <a:pPr algn="ctr"/>
            <a:r>
              <a:rPr lang="en-US" sz="4500" dirty="0"/>
              <a:t>Machine Tool Buyers are Highly </a:t>
            </a:r>
            <a:br>
              <a:rPr lang="en-US" sz="4500" dirty="0"/>
            </a:br>
            <a:r>
              <a:rPr lang="en-US" sz="4500" dirty="0"/>
              <a:t>Active Across SME Media Platforms</a:t>
            </a:r>
            <a:endParaRPr lang="en-US" sz="45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46CA5-FD09-DE13-DBDB-288B1964B4C5}"/>
              </a:ext>
            </a:extLst>
          </p:cNvPr>
          <p:cNvSpPr txBox="1"/>
          <p:nvPr/>
        </p:nvSpPr>
        <p:spPr>
          <a:xfrm>
            <a:off x="369512" y="6554984"/>
            <a:ext cx="115381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Source: Sibyl by Signet Research 2026 SME Media Audience Cross-Platform Research Report; Q:Which types of products/services do you influence or purchase? (Please select all that apply)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69003E-3DFF-57F1-273E-0EBE3BF49709}"/>
              </a:ext>
            </a:extLst>
          </p:cNvPr>
          <p:cNvSpPr/>
          <p:nvPr/>
        </p:nvSpPr>
        <p:spPr>
          <a:xfrm>
            <a:off x="369513" y="1920417"/>
            <a:ext cx="4478060" cy="42735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C09BBD-4F47-667E-C10F-1021DF4628EE}"/>
              </a:ext>
            </a:extLst>
          </p:cNvPr>
          <p:cNvSpPr/>
          <p:nvPr/>
        </p:nvSpPr>
        <p:spPr>
          <a:xfrm>
            <a:off x="5110619" y="1920417"/>
            <a:ext cx="6711868" cy="42735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1D0BE0-E8CD-3586-BF85-A30F71D5D20A}"/>
              </a:ext>
            </a:extLst>
          </p:cNvPr>
          <p:cNvSpPr txBox="1"/>
          <p:nvPr/>
        </p:nvSpPr>
        <p:spPr>
          <a:xfrm>
            <a:off x="191594" y="2076305"/>
            <a:ext cx="483389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b="1" dirty="0">
                <a:solidFill>
                  <a:srgbClr val="0A4A78"/>
                </a:solidFill>
              </a:rPr>
              <a:t>Machine Tools is the Top Purchase </a:t>
            </a:r>
            <a:br>
              <a:rPr lang="en-US" b="1" dirty="0">
                <a:solidFill>
                  <a:srgbClr val="0A4A78"/>
                </a:solidFill>
              </a:rPr>
            </a:br>
            <a:r>
              <a:rPr lang="en-US" b="1" dirty="0">
                <a:solidFill>
                  <a:srgbClr val="0A4A78"/>
                </a:solidFill>
              </a:rPr>
              <a:t>Category Across SME Media’s Audience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1626E-A89E-04F8-1BAE-0D00C961408D}"/>
              </a:ext>
            </a:extLst>
          </p:cNvPr>
          <p:cNvSpPr txBox="1"/>
          <p:nvPr/>
        </p:nvSpPr>
        <p:spPr>
          <a:xfrm>
            <a:off x="5110619" y="2076305"/>
            <a:ext cx="671186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b="1" dirty="0">
                <a:solidFill>
                  <a:srgbClr val="49759D"/>
                </a:solidFill>
              </a:rPr>
              <a:t>SME Media Delivers Consistent Access to Machine Tool Decision-Makers Across Platforms, Especially on AM.org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8B7629-AB1D-BA9C-C050-C6C9C6A86C33}"/>
              </a:ext>
            </a:extLst>
          </p:cNvPr>
          <p:cNvSpPr txBox="1"/>
          <p:nvPr/>
        </p:nvSpPr>
        <p:spPr>
          <a:xfrm>
            <a:off x="1249969" y="2697351"/>
            <a:ext cx="2922839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% of Audience by Purchase Category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115E6-59FB-37C7-3645-1FCBC75C5A17}"/>
              </a:ext>
            </a:extLst>
          </p:cNvPr>
          <p:cNvSpPr txBox="1"/>
          <p:nvPr/>
        </p:nvSpPr>
        <p:spPr>
          <a:xfrm>
            <a:off x="6113459" y="2940247"/>
            <a:ext cx="471583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% of Audience Influencing Machine Tool Purchases by Platform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F2DE14E-B79A-E311-E59E-A9E8CDC90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836886"/>
              </p:ext>
            </p:extLst>
          </p:nvPr>
        </p:nvGraphicFramePr>
        <p:xfrm>
          <a:off x="533617" y="3066683"/>
          <a:ext cx="4445479" cy="293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604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3620</TotalTime>
  <Words>215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SME Media Connects Kennametal with  Qualified Manufacturing Decision-Makers</vt:lpstr>
      <vt:lpstr>Machine Tool Buyers are Highly  Active Across SME Media Platforms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Laird</dc:creator>
  <cp:lastModifiedBy>Natasha Trever</cp:lastModifiedBy>
  <cp:revision>6</cp:revision>
  <dcterms:created xsi:type="dcterms:W3CDTF">2026-01-08T16:30:58Z</dcterms:created>
  <dcterms:modified xsi:type="dcterms:W3CDTF">2026-07-29T14:20:43Z</dcterms:modified>
</cp:coreProperties>
</file>